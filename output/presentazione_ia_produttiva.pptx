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diagram1.svg" ContentType="image/svg+xml"/>
  <Override PartName="/ppt/media/diagram10.svg" ContentType="image/svg+xml"/>
  <Override PartName="/ppt/media/diagram11.svg" ContentType="image/svg+xml"/>
  <Override PartName="/ppt/media/diagram2.svg" ContentType="image/svg+xml"/>
  <Override PartName="/ppt/media/diagram3.svg" ContentType="image/svg+xml"/>
  <Override PartName="/ppt/media/diagram4.svg" ContentType="image/svg+xml"/>
  <Override PartName="/ppt/media/diagram5.svg" ContentType="image/svg+xml"/>
  <Override PartName="/ppt/media/diagram6.svg" ContentType="image/svg+xml"/>
  <Override PartName="/ppt/media/diagram7.svg" ContentType="image/svg+xml"/>
  <Override PartName="/ppt/media/diagram8.svg" ContentType="image/svg+xml"/>
  <Override PartName="/ppt/media/diagram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diagram1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diagram2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diagram3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diagram4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diagram5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diagram6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diagram7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diagram8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diagram9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diagram10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diagram11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05840" cy="5143500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0" y="73152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L'IA che Lavora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01168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Architettura, Dominio, Strategia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 trasformare un chatbot in un collega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VALUATION ANALYST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480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 reale · sistema multi-agente · 25 minuti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 90% usa l'IA come un motore di ricerca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78992"/>
            <a:ext cx="83210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L'IA è un collaboratore creativo, non una calcolatrice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8046720" cy="35661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4023360"/>
              </a:tblGrid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Calcolatrice (quello che già avete)</a:t>
                      </a:r>
                    </a:p>
                  </a:txBody>
                  <a:tcPr marL="128016" marR="91440" marT="27432" marB="27432" anchor="ctr">
                    <a:solidFill>
                      <a:srgbClr val="003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Collaboratore creativo (quello che cambia tutto)</a:t>
                      </a:r>
                    </a:p>
                  </a:txBody>
                  <a:tcPr marL="128016" marR="91440" marT="27432" marB="27432" anchor="ctr">
                    <a:solidFill>
                      <a:srgbClr val="003BA3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Esegue una formula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Sceglie quale formula usare e perché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Produce un numero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Chiede: questo numero ha senso?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Fa quello che gli dici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Propone quello che non avevi considerato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Si ferma a un errore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Spiega perché è un errore e suggerisce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Scala in velocità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Scala in giudizio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Serve un programmatore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Si adatta in linguaggio naturale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 pilastri: senza uno, il sistema non regge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78992"/>
            <a:ext cx="83210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2560320" y="-274320"/>
            <a:ext cx="1645920" cy="2926080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377440"/>
            <a:ext cx="1645920" cy="1828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914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0" y="2011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Architettura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Dal tool al sistema multi-agente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tool non scala: la scala della maturità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78992"/>
            <a:ext cx="83210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Anatomia di un sistema multi-agente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78992"/>
            <a:ext cx="83210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skill come contratti, non come prompt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78992"/>
            <a:ext cx="83210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Autonomia controllata: sapere quando fermarsi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78992"/>
            <a:ext cx="83210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Sotto il cofano: stack tecnologico e fonti dati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804672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3566160"/>
                <a:gridCol w="2743200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Livello</a:t>
                      </a:r>
                    </a:p>
                  </a:txBody>
                  <a:tcPr marL="128016" marR="91440" marT="27432" marB="27432" anchor="ctr">
                    <a:solidFill>
                      <a:srgbClr val="003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Tecnologia / Fonte</a:t>
                      </a:r>
                    </a:p>
                  </a:txBody>
                  <a:tcPr marL="128016" marR="91440" marT="27432" marB="27432" anchor="ctr">
                    <a:solidFill>
                      <a:srgbClr val="003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Ruolo</a:t>
                      </a:r>
                    </a:p>
                  </a:txBody>
                  <a:tcPr marL="128016" marR="91440" marT="27432" marB="27432" anchor="ctr">
                    <a:solidFill>
                      <a:srgbClr val="003BA3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BA3"/>
                          </a:solidFill>
                          <a:latin typeface="Montserrat"/>
                        </a:rPr>
                        <a:t>LLM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Claude (Anthropic)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Ragionamento, generazione, orchestrazione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BA3"/>
                          </a:solidFill>
                          <a:latin typeface="Montserrat"/>
                        </a:rPr>
                        <a:t>Runtime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Claude Code · MCP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Esecuzione agenti, tool use, integrazioni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BA3"/>
                          </a:solidFill>
                          <a:latin typeface="Montserrat"/>
                        </a:rPr>
                        <a:t>Calcolo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Python 3.11+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Modelli finanziari · 348 test automatizzati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BA3"/>
                          </a:solidFill>
                          <a:latin typeface="Montserrat"/>
                        </a:rPr>
                        <a:t>Skill layer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Markdown strutturato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Workflow, vincoli, checkpoint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BA3"/>
                          </a:solidFill>
                          <a:latin typeface="Montserrat"/>
                        </a:rPr>
                        <a:t>Dati di mercato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Massive · FactSet · Capital IQ · Refinitiv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Prezzi, fondamentali, consensus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BA3"/>
                          </a:solidFill>
                          <a:latin typeface="Montserrat"/>
                        </a:rPr>
                        <a:t>Parametri settore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Damodaran NYU Stern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Beta, ERP, multipli, WACC settoriali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BA3"/>
                          </a:solidFill>
                          <a:latin typeface="Montserrat"/>
                        </a:rPr>
                        <a:t>Società italiane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Bureau van Dijk (AIDA) · CONSOB · Borsa Italiana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Bilanci, dati societari, depositi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BA3"/>
                          </a:solidFill>
                          <a:latin typeface="Montserrat"/>
                        </a:rPr>
                        <a:t>Versionamento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Git + GitHub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A1A2E"/>
                          </a:solidFill>
                          <a:latin typeface="Montserrat"/>
                        </a:rPr>
                        <a:t>Audit trail, collaborazione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2560320" y="-274320"/>
            <a:ext cx="1645920" cy="2926080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377440"/>
            <a:ext cx="1645920" cy="1828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914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0" y="2011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Dominio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conoscenza che rende l'IA competente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 brillante incompetente: senza dominio sbaglia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78992"/>
            <a:ext cx="83210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 dominio si codifica: paper → codice → skill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78992"/>
            <a:ext cx="83210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compliance come dominio: il porting al framework europeo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804672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194560"/>
                <a:gridCol w="4023360"/>
              </a:tblGrid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Ambito</a:t>
                      </a:r>
                    </a:p>
                  </a:txBody>
                  <a:tcPr marL="128016" marR="91440" marT="27432" marB="27432" anchor="ctr">
                    <a:solidFill>
                      <a:srgbClr val="003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Normativa</a:t>
                      </a:r>
                    </a:p>
                  </a:txBody>
                  <a:tcPr marL="128016" marR="91440" marT="27432" marB="27432" anchor="ctr">
                    <a:solidFill>
                      <a:srgbClr val="003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Cosa fa l'IA</a:t>
                      </a:r>
                    </a:p>
                  </a:txBody>
                  <a:tcPr marL="128016" marR="91440" marT="27432" marB="27432" anchor="ctr">
                    <a:solidFill>
                      <a:srgbClr val="003BA3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3BA3"/>
                          </a:solidFill>
                          <a:latin typeface="Montserrat"/>
                        </a:rPr>
                        <a:t>Antitrust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AGCM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Verifica soglie fatturato (532M/32M €)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3BA3"/>
                          </a:solidFill>
                          <a:latin typeface="Montserrat"/>
                        </a:rPr>
                        <a:t>Settori strategici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Golden Power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Flag settori D.L. 21/2012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3BA3"/>
                          </a:solidFill>
                          <a:latin typeface="Montserrat"/>
                        </a:rPr>
                        <a:t>Mercati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CONSOB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Conformità Regolamento Emittenti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3BA3"/>
                          </a:solidFill>
                          <a:latin typeface="Montserrat"/>
                        </a:rPr>
                        <a:t>Adeguatezza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MiFID II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Profiling, target market, ESG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3BA3"/>
                          </a:solidFill>
                          <a:latin typeface="Montserrat"/>
                        </a:rPr>
                        <a:t>Antiriciclaggio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D.Lgs. 231/2007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3 livelli di adeguata verifica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3BA3"/>
                          </a:solidFill>
                          <a:latin typeface="Montserrat"/>
                        </a:rPr>
                        <a:t>Sostenibilità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SFDR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Classificazione art. 6/8/9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3BA3"/>
                          </a:solidFill>
                          <a:latin typeface="Montserrat"/>
                        </a:rPr>
                        <a:t>Resilienza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DORA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Check Reg. UE 2022/2554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3BA3"/>
                          </a:solidFill>
                          <a:latin typeface="Montserrat"/>
                        </a:rPr>
                        <a:t>Fiscalità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IRES+IRAP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A1A2E"/>
                          </a:solidFill>
                          <a:latin typeface="Montserrat"/>
                        </a:rPr>
                        <a:t>Parametri automatici per l'Italia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Arricchire il dominio: dallo strumento alla suite integrata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78992"/>
            <a:ext cx="83210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2560320" y="-274320"/>
            <a:ext cx="1645920" cy="2926080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377440"/>
            <a:ext cx="1645920" cy="1828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914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0" y="2011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 percorso di adozione progressiva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 serve un big bang: adozione progressiva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78992"/>
            <a:ext cx="83210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L'uomo nel loop: dove metterlo e dove toglierlo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1078992"/>
            <a:ext cx="83210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Misurare il valore: metriche che contano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804672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402336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Metriche vanity (inutili)</a:t>
                      </a:r>
                    </a:p>
                  </a:txBody>
                  <a:tcPr marL="128016" marR="91440" marT="27432" marB="27432" anchor="ctr">
                    <a:solidFill>
                      <a:srgbClr val="003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Metriche di valore (utili)</a:t>
                      </a:r>
                    </a:p>
                  </a:txBody>
                  <a:tcPr marL="128016" marR="91440" marT="27432" marB="27432" anchor="ctr">
                    <a:solidFill>
                      <a:srgbClr val="003BA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Numero di prompt al giorno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Tempo da richiesta a output utilizzabile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Token consumati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Tasso di rework (output accettati al 1º giro)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Utenti attivi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Copertura dei controlli (check eseguiti)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Soddisfazione generica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Riproducibilità (stesso input = stesso output)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Costo per query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Audit trail (tracciabilità delle decisioni)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2560320" y="-274320"/>
            <a:ext cx="1645920" cy="2926080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377440"/>
            <a:ext cx="1645920" cy="1828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914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★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0" y="2011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Chiusura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tre cardini e le azioni concrete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tre cardini: senza uno, il sistema non regge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2560320" cy="54864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97864"/>
            <a:ext cx="2560320" cy="3200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ARCHITETTURA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 un prompt, un sistema. Agenti specializzati, skill con garanzie, autonomia controllata.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Senza: IA brillante ma caotica.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143000"/>
            <a:ext cx="2560320" cy="54864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197864"/>
            <a:ext cx="2560320" cy="3200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8288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 dati, giudizio. Paper, formule, vincoli ed errori comuni codificati.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Senza: IA veloce ma pericolosa.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560320" cy="54864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1197864"/>
            <a:ext cx="2560320" cy="3200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371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18288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 big bang, percorso. Partire da dove il rischio è basso e il valore visibile.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Senza: pilota che non finisce mai.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Call to action: 3 mosse per lunedì mattina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3291840" cy="36576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Costruite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sistemi,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 prompt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Smettete di chiedere all'IA di fare cose. Iniziate a costruire sistemi che sanno farle.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06240" y="1097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 · Scrivete un workflow come skill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1417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Vincoli, step, checkpoint, errori comuni. Non serve codice: basta un documento.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· Mappate i decision gate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560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Dove l'IA procede da sola e dove si ferma. Usate la matrice rischio/reversibilità.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· Partite piccoli e misurate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3703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agente, una skill, un workflow. Misurate gli output utilizzabili, non i prompt.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498080" y="0"/>
            <a:ext cx="1645920" cy="3200400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2926080"/>
            <a:ext cx="1645920" cy="22174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Grazie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Domande?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 futuro non è l'IA che sostituisce le persone.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È l'IA che le rende più brave nel loro mestiere.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VALUATION ANALYST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2560320" y="-274320"/>
            <a:ext cx="1645920" cy="2926080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377440"/>
            <a:ext cx="1645920" cy="1828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0" y="914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0" y="2011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Backup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Approfondimenti per le domande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Backup · Dal bilancio al rating in 5 step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554480" cy="457200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 aziende, invarianti di bilancio verificati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1554480" cy="457200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0312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 di 35 peer: EBITDA 14%, leva D/TA 42%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371600"/>
            <a:ext cx="1554480" cy="457200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Differenziale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vs settore: margine +3pp, 6/8 favorevoli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77840" y="1371600"/>
            <a:ext cx="1554480" cy="457200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DCF coerente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1325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8C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stadi, 7 check PASS, EV 38M, TV peso 64%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0" y="1371600"/>
            <a:ext cx="1554480" cy="457200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Monte Carlo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20k sim → PD 2,8%, rating BB+, EL 1,2M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B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Backup · ROI dell'approccio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4942332"/>
            <a:ext cx="5029200" cy="201168"/>
          </a:xfrm>
          <a:prstGeom prst="rect">
            <a:avLst/>
          </a:prstGeom>
          <a:solidFill>
            <a:srgbClr val="003BA3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4942332"/>
            <a:ext cx="4114800" cy="201168"/>
          </a:xfrm>
          <a:prstGeom prst="rect">
            <a:avLst/>
          </a:prstGeom>
          <a:solidFill>
            <a:srgbClr val="4A8CFF"/>
          </a:solidFill>
          <a:ln/>
        </p:spPr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804672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402336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Investimento — una tantum (~1 settimana)</a:t>
                      </a:r>
                    </a:p>
                  </a:txBody>
                  <a:tcPr marL="128016" marR="91440" marT="27432" marB="27432" anchor="ctr">
                    <a:solidFill>
                      <a:srgbClr val="003B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ontserrat"/>
                        </a:rPr>
                        <a:t>Ritorno — ricorrente</a:t>
                      </a:r>
                    </a:p>
                  </a:txBody>
                  <a:tcPr marL="128016" marR="91440" marT="27432" marB="27432" anchor="ctr">
                    <a:solidFill>
                      <a:srgbClr val="003BA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Codifica dominio: 2-3 giorni per verticale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Tempo analisi −80% (2-3 giorni → 2-3 ore)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Architettura agenti: 1-2 giorni di setup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7+ check sempre eseguiti, zero dimenticanze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Test e validazione: 1 giorno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Riproducibilità garantita, audit-friendly</a:t>
                      </a:r>
                    </a:p>
                  </a:txBody>
                  <a:tcPr marL="128016" marR="91440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3BA3"/>
                          </a:solidFill>
                          <a:latin typeface="Montserrat"/>
                        </a:rPr>
                        <a:t>Totale setup ~1 settimana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Montserrat"/>
                        </a:rPr>
                        <a:t>Onboarding junior: da mesi a giorni (skill = formazione)</a:t>
                      </a:r>
                    </a:p>
                  </a:txBody>
                  <a:tcPr marL="128016" marR="91440" marT="27432" marB="27432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Qubit On Cloud - Consulting Template</dc:title>
  <dc:subject>PptxGenJS Presentation</dc:subject>
  <dc:creator>Qubit On Cloud</dc:creator>
  <cp:lastModifiedBy>Qubit On Cloud</cp:lastModifiedBy>
  <cp:revision>1</cp:revision>
  <dcterms:created xsi:type="dcterms:W3CDTF">2026-03-26T10:36:48Z</dcterms:created>
  <dcterms:modified xsi:type="dcterms:W3CDTF">2026-03-26T10:36:48Z</dcterms:modified>
</cp:coreProperties>
</file>